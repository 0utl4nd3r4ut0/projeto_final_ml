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a e dados" id="{FA65106E-B9A7-F771-B882-ECD89C3654C8}">
          <p14:sldIdLst>
            <p14:sldId id="256"/>
            <p14:sldId id="257"/>
            <p14:sldId id="258"/>
          </p14:sldIdLst>
        </p14:section>
        <p14:section name="Modelo e decisão" id="{CA0F9875-D886-B363-D4E5-B7B973B4228C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Governança e limites" id="{1BB83AD7-CC5E-6056-FD9A-EA7FC3AF68F3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7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+mn-lt"/>
              </a:rPr>
              <a:t>Placas por defeito original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ajustável (1)</c:v>
                </c:pt>
              </c:strCache>
            </c:strRef>
          </c:tx>
          <c:spPr>
            <a:solidFill>
              <a:srgbClr val="D9591F"/>
            </a:solidFill>
            <a:effectLst/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Other_Faults</c:v>
                </c:pt>
                <c:pt idx="1">
                  <c:v>Bumps</c:v>
                </c:pt>
                <c:pt idx="2">
                  <c:v>K_Scatch</c:v>
                </c:pt>
                <c:pt idx="3">
                  <c:v>Z_Scratch</c:v>
                </c:pt>
                <c:pt idx="4">
                  <c:v>Pastry</c:v>
                </c:pt>
                <c:pt idx="5">
                  <c:v>Stains</c:v>
                </c:pt>
                <c:pt idx="6">
                  <c:v>Dirtiness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402</c:v>
                </c:pt>
                <c:pt idx="2">
                  <c:v>391</c:v>
                </c:pt>
                <c:pt idx="3">
                  <c:v>190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10-4141-BFE3-D1F4354888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ajustável (0)</c:v>
                </c:pt>
              </c:strCache>
            </c:strRef>
          </c:tx>
          <c:spPr>
            <a:solidFill>
              <a:srgbClr val="2F6F8F"/>
            </a:solidFill>
            <a:effectLst/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Other_Faults</c:v>
                </c:pt>
                <c:pt idx="1">
                  <c:v>Bumps</c:v>
                </c:pt>
                <c:pt idx="2">
                  <c:v>K_Scatch</c:v>
                </c:pt>
                <c:pt idx="3">
                  <c:v>Z_Scratch</c:v>
                </c:pt>
                <c:pt idx="4">
                  <c:v>Pastry</c:v>
                </c:pt>
                <c:pt idx="5">
                  <c:v>Stains</c:v>
                </c:pt>
                <c:pt idx="6">
                  <c:v>Dirtiness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673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158</c:v>
                </c:pt>
                <c:pt idx="5">
                  <c:v>72</c:v>
                </c:pt>
                <c:pt idx="6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10-4141-BFE3-D1F4354888F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427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Justifique aqui o alvo (exigência do enunciado). Fale: 'processo' não é o mesmo que 'ajustável por parâmetro' — por isso a classe 1 é definida pela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UCI Steel Plates Faults, ID 198. Toda placa da base tem exatamente um defeito: não existe classe 'placa boa'. Por isso o alvo é um agrupamento de defeitos.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Gráfico: contagem por defeito original (base inteira), colorido pela classe do alvo. O custo concentra-se no falso negativo; preencha R e a justificativa com a sua experiência.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da execução real (acurácia). Confira com a SUA saída do notebook (seção 8) antes de apresentar. A poda foi escolhida por validação cruzada no treino, não pelo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Preencha com a seção 11 do notebook (corte escolhido). Diagnóstico de sobreajuste: lacuna treino − teste acima de 0,05 = relevante (premissa da SKILL).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Corte escolhido no TREINO por validação cruzada, minimizando R·FN + FP. A coluna 'teórico' é 1/(1+R). Justifique R com a sua experiência: qual erro você teme mais e por quê.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 = piso e regra de 1 corte (proxy de 'olhar um indicador'; é premissa, declare). Traduza a diferença em placas por 100 e em custo por 100 (seção 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Cole um print do interface.html com o corte do notebook. Mostre também um print com o corte movido para ilustrar o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 da seção 13 do notebook. Lembre: o engenheiro raramente ajusta por uma placa só; a revisão é triagem, e ele age sobre recorrência.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Falha silenciosa (Aula 4, slide 20). Cole a saída real da seção 16 do notebook em evidencias/modo_de_falha.md e cite aqui a probabilidade observada.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Defina os limiares de desligamento com números seus (premissas). O dono do desligamento precisa ser uma pessoa ou função.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linha por pergunta, com o número que vem do notebook executado.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TF IA · Papel B · Engenheiro de processo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ERTUR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Quando ajustar a laminação?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Trabalho Final de Inteligência Artificial · PUC Minas · Renan Dias de Oliveira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Papel B · Engenheiro de processo · Decisão: ajustar ou não o parâmetro de laminação</a:t>
            </a:r>
            <a:endParaRPr lang="en-US" sz="1600" dirty="0"/>
          </a:p>
        </p:txBody>
      </p:sp>
      <p:sp>
        <p:nvSpPr>
          <p:cNvPr id="5" name="card-classe1"/>
          <p:cNvSpPr/>
          <p:nvPr/>
        </p:nvSpPr>
        <p:spPr>
          <a:xfrm>
            <a:off x="457200" y="196596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Classe 1 · ajustável por parâmetro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Bumps, Z_Scratch, K_Scatch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 causa provável está em parâmetro de laminação que o engenheiro controla.</a:t>
            </a:r>
            <a:endParaRPr lang="en-US" sz="1800" dirty="0"/>
          </a:p>
        </p:txBody>
      </p:sp>
      <p:sp>
        <p:nvSpPr>
          <p:cNvPr id="7" name="card-classe0"/>
          <p:cNvSpPr/>
          <p:nvPr/>
        </p:nvSpPr>
        <p:spPr>
          <a:xfrm>
            <a:off x="4754880" y="196596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937760" y="21031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Classe 0 · não ajustável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Pastry, Stains, Dirtiness, Other_Faults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Contaminação, origem no material ou causa desconhecida: mexer no parâmetro não resolve.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Decisão de negócio: sem causa conhecida, não se intervém no processo (custo e risco). Premissa declarada: a base não documenta a causa física de cada defeito.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 base disponível</a:t>
            </a:r>
            <a:endParaRPr lang="en-US" sz="3400" dirty="0"/>
          </a:p>
        </p:txBody>
      </p:sp>
      <p:sp>
        <p:nvSpPr>
          <p:cNvPr id="4" name="s-placas-valor"/>
          <p:cNvSpPr txBox="1"/>
          <p:nvPr/>
        </p:nvSpPr>
        <p:spPr>
          <a:xfrm>
            <a:off x="45720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1.941</a:t>
            </a:r>
            <a:endParaRPr lang="en-US" sz="4000" dirty="0"/>
          </a:p>
        </p:txBody>
      </p:sp>
      <p:sp>
        <p:nvSpPr>
          <p:cNvPr id="5" name="s-placas-rotulo"/>
          <p:cNvSpPr txBox="1"/>
          <p:nvPr/>
        </p:nvSpPr>
        <p:spPr>
          <a:xfrm>
            <a:off x="45720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placas na base</a:t>
            </a:r>
            <a:endParaRPr lang="en-US" sz="1400" dirty="0"/>
          </a:p>
        </p:txBody>
      </p:sp>
      <p:sp>
        <p:nvSpPr>
          <p:cNvPr id="6" name="s-vars-valor"/>
          <p:cNvSpPr txBox="1"/>
          <p:nvPr/>
        </p:nvSpPr>
        <p:spPr>
          <a:xfrm>
            <a:off x="246888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000" dirty="0"/>
          </a:p>
        </p:txBody>
      </p:sp>
      <p:sp>
        <p:nvSpPr>
          <p:cNvPr id="7" name="s-vars-rotulo"/>
          <p:cNvSpPr txBox="1"/>
          <p:nvPr/>
        </p:nvSpPr>
        <p:spPr>
          <a:xfrm>
            <a:off x="246888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variáveis de sensor</a:t>
            </a:r>
            <a:endParaRPr lang="en-US" sz="1400" dirty="0"/>
          </a:p>
        </p:txBody>
      </p:sp>
      <p:sp>
        <p:nvSpPr>
          <p:cNvPr id="8" name="s-def-valor"/>
          <p:cNvSpPr txBox="1"/>
          <p:nvPr/>
        </p:nvSpPr>
        <p:spPr>
          <a:xfrm>
            <a:off x="448056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9" name="s-def-rotulo"/>
          <p:cNvSpPr txBox="1"/>
          <p:nvPr/>
        </p:nvSpPr>
        <p:spPr>
          <a:xfrm>
            <a:off x="448056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tipos de defeito</a:t>
            </a:r>
            <a:endParaRPr lang="en-US" sz="1400" dirty="0"/>
          </a:p>
        </p:txBody>
      </p:sp>
      <p:sp>
        <p:nvSpPr>
          <p:cNvPr id="10" name="s-bom-valor"/>
          <p:cNvSpPr txBox="1"/>
          <p:nvPr/>
        </p:nvSpPr>
        <p:spPr>
          <a:xfrm>
            <a:off x="6492240" y="1234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s-bom-rotulo"/>
          <p:cNvSpPr txBox="1"/>
          <p:nvPr/>
        </p:nvSpPr>
        <p:spPr>
          <a:xfrm>
            <a:off x="649224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placas sem defeito</a:t>
            </a:r>
            <a:endParaRPr lang="en-US" sz="1400" dirty="0"/>
          </a:p>
        </p:txBody>
      </p:sp>
      <p:sp>
        <p:nvSpPr>
          <p:cNvPr id="12" name="card-divisao"/>
          <p:cNvSpPr/>
          <p:nvPr/>
        </p:nvSpPr>
        <p:spPr>
          <a:xfrm>
            <a:off x="457200" y="274320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640080" y="285292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Divisão fixa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1.552 placas de treino · 389 de teste (20%, semente 42). Sem ausentes e sem duplicadas. Exploração só no treino.</a:t>
            </a:r>
            <a:endParaRPr lang="en-US" sz="1600" dirty="0"/>
          </a:p>
        </p:txBody>
      </p:sp>
      <p:sp>
        <p:nvSpPr>
          <p:cNvPr id="14" name="card-permite"/>
          <p:cNvSpPr/>
          <p:nvPr/>
        </p:nvSpPr>
        <p:spPr>
          <a:xfrm>
            <a:off x="4663440" y="274320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4846320" y="285292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 que a base permite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Prever o tipo de defeito pelas medidas do sensor. Não traz causa física nem custo real: ambos são premissas.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507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Fonte: UCI Steel Plates Faults (ID 198) · acesso em 11/10/2026 · NOTEBOOK seções 1 a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1 · Onde está o problema?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88720"/>
          <a:ext cx="49377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-um-valor"/>
          <p:cNvSpPr txBox="1"/>
          <p:nvPr/>
        </p:nvSpPr>
        <p:spPr>
          <a:xfrm>
            <a:off x="5577840" y="1234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5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983 · 50,6%</a:t>
            </a:r>
            <a:endParaRPr lang="en-US" sz="4000" dirty="0"/>
          </a:p>
        </p:txBody>
      </p:sp>
      <p:sp>
        <p:nvSpPr>
          <p:cNvPr id="6" name="s-um-rotulo"/>
          <p:cNvSpPr txBox="1"/>
          <p:nvPr/>
        </p:nvSpPr>
        <p:spPr>
          <a:xfrm>
            <a:off x="557784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ajustável por parâmetro (classe 1)</a:t>
            </a:r>
            <a:endParaRPr lang="en-US" sz="1400" dirty="0"/>
          </a:p>
        </p:txBody>
      </p:sp>
      <p:sp>
        <p:nvSpPr>
          <p:cNvPr id="7" name="s-zero-valor"/>
          <p:cNvSpPr txBox="1"/>
          <p:nvPr/>
        </p:nvSpPr>
        <p:spPr>
          <a:xfrm>
            <a:off x="5577840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6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958 · 49,4%</a:t>
            </a:r>
            <a:endParaRPr lang="en-US" sz="4000" dirty="0"/>
          </a:p>
        </p:txBody>
      </p:sp>
      <p:sp>
        <p:nvSpPr>
          <p:cNvPr id="8" name="s-zero-rotulo"/>
          <p:cNvSpPr txBox="1"/>
          <p:nvPr/>
        </p:nvSpPr>
        <p:spPr>
          <a:xfrm>
            <a:off x="557784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não ajustável (classe 0)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577840" y="3611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 custo se concentra no falso negativo: defeito ajustável não corrigido segue sendo produzido. Premissa: R = 3.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507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Fonte: NOTEBOOK seção 2 (crosstab do alvo).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Comparação dos modelos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Modelo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Treino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Lacuna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Piso (classe majoritária)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0,507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0,504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Regra simples (1 corte)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0,644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0,645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Árvore sem poda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1,000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0,802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+0,198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Árvore podada (modelo final)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0,891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0,787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+0,104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dica-0"/>
          <p:cNvSpPr/>
          <p:nvPr/>
        </p:nvSpPr>
        <p:spPr>
          <a:xfrm>
            <a:off x="5852160" y="1280160"/>
            <a:ext cx="28346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2"/>
          <p:cNvSpPr txBox="1"/>
          <p:nvPr/>
        </p:nvSpPr>
        <p:spPr>
          <a:xfrm>
            <a:off x="5989320" y="13258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Regra de 1 corte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+14 pontos sobre o piso e sem sobreajuste.</a:t>
            </a:r>
            <a:endParaRPr lang="en-US" sz="1400" dirty="0"/>
          </a:p>
        </p:txBody>
      </p:sp>
      <p:sp>
        <p:nvSpPr>
          <p:cNvPr id="7" name="dica-1"/>
          <p:cNvSpPr/>
          <p:nvPr/>
        </p:nvSpPr>
        <p:spPr>
          <a:xfrm>
            <a:off x="5852160" y="2286000"/>
            <a:ext cx="28346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 txBox="1"/>
          <p:nvPr/>
        </p:nvSpPr>
        <p:spPr>
          <a:xfrm>
            <a:off x="5989320" y="23317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Sem poda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decora o treino: lacuna de 20 pontos.</a:t>
            </a:r>
            <a:endParaRPr lang="en-US" sz="1400" dirty="0"/>
          </a:p>
        </p:txBody>
      </p:sp>
      <p:sp>
        <p:nvSpPr>
          <p:cNvPr id="9" name="dica-2"/>
          <p:cNvSpPr/>
          <p:nvPr/>
        </p:nvSpPr>
        <p:spPr>
          <a:xfrm>
            <a:off x="5852160" y="3291840"/>
            <a:ext cx="28346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5989320" y="33375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Podada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lacuna cai pela metade e devolve probabilidades graduais.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749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 teste não decide a escolha: a diferença de 1,5 ponto entre as árvores está dentro do ruído (±2 pontos com 389 placas). A árvore sem poda só devolve 0 ou 1, então não permite ajustar o corte.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507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Fonte: NOTEBOOK seções 6 a 8 (acurácia; hiperparâmetros por validação cruzada no treino).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Avaliação do modelo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Treino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Acurácia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0,758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0,730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Precisão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0,677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0,659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1,000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0,964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02920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Matriz de confusão (teste)</a:t>
            </a:r>
            <a:endParaRPr lang="en-US" sz="1400" dirty="0"/>
          </a:p>
        </p:txBody>
      </p:sp>
      <p:sp>
        <p:nvSpPr>
          <p:cNvPr id="3" name="mat-VN"/>
          <p:cNvSpPr/>
          <p:nvPr/>
        </p:nvSpPr>
        <p:spPr>
          <a:xfrm>
            <a:off x="5029200" y="164592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 txBox="1"/>
          <p:nvPr/>
        </p:nvSpPr>
        <p:spPr>
          <a:xfrm>
            <a:off x="5120640" y="1691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VN: 95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real 0 · previsto 0</a:t>
            </a:r>
            <a:endParaRPr lang="en-US" sz="1400" dirty="0"/>
          </a:p>
        </p:txBody>
      </p:sp>
      <p:sp>
        <p:nvSpPr>
          <p:cNvPr id="8" name="mat-FP"/>
          <p:cNvSpPr/>
          <p:nvPr/>
        </p:nvSpPr>
        <p:spPr>
          <a:xfrm>
            <a:off x="6858000" y="164592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 txBox="1"/>
          <p:nvPr/>
        </p:nvSpPr>
        <p:spPr>
          <a:xfrm>
            <a:off x="6949440" y="1691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FP: 98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real 0 · previsto 1</a:t>
            </a:r>
            <a:endParaRPr lang="en-US" sz="1400" dirty="0"/>
          </a:p>
        </p:txBody>
      </p:sp>
      <p:sp>
        <p:nvSpPr>
          <p:cNvPr id="10" name="mat-FN"/>
          <p:cNvSpPr/>
          <p:nvPr/>
        </p:nvSpPr>
        <p:spPr>
          <a:xfrm>
            <a:off x="5029200" y="265176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 txBox="1"/>
          <p:nvPr/>
        </p:nvSpPr>
        <p:spPr>
          <a:xfrm>
            <a:off x="5120640" y="2697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FN: 7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real 1 · previsto 0</a:t>
            </a:r>
            <a:endParaRPr lang="en-US" sz="1400" dirty="0"/>
          </a:p>
        </p:txBody>
      </p:sp>
      <p:sp>
        <p:nvSpPr>
          <p:cNvPr id="12" name="mat-VP"/>
          <p:cNvSpPr/>
          <p:nvPr/>
        </p:nvSpPr>
        <p:spPr>
          <a:xfrm>
            <a:off x="6858000" y="265176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6949440" y="2697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VP: 189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real 1 · previsto 1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Lacunas treino − teste: acurácia +0,028 · precisão +0,018 · recall +0,036 (todas abaixo de 0,05).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Atenção: em 0,5 a lacuna de acurácia era 0,104 (slide 4); em 0,05 quase tudo vira "ajustável".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507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Fonte: NOTEBOOK seção 11.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3 · Qual ponto de corte?</a:t>
            </a:r>
            <a:endParaRPr lang="en-US" sz="3400" dirty="0"/>
          </a:p>
        </p:txBody>
      </p:sp>
      <p:sp>
        <p:nvSpPr>
          <p:cNvPr id="4" name="s-corte-valor"/>
          <p:cNvSpPr txBox="1"/>
          <p:nvPr/>
        </p:nvSpPr>
        <p:spPr>
          <a:xfrm>
            <a:off x="45720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0,05</a:t>
            </a:r>
            <a:endParaRPr lang="en-US" sz="4000" dirty="0"/>
          </a:p>
        </p:txBody>
      </p:sp>
      <p:sp>
        <p:nvSpPr>
          <p:cNvPr id="5" name="s-corte-rotulo"/>
          <p:cNvSpPr txBox="1"/>
          <p:nvPr/>
        </p:nvSpPr>
        <p:spPr>
          <a:xfrm>
            <a:off x="45720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ponto de corte escolhido (R = 3)</a:t>
            </a:r>
            <a:endParaRPr lang="en-US" sz="1400" dirty="0"/>
          </a:p>
        </p:txBody>
      </p:sp>
      <p:sp>
        <p:nvSpPr>
          <p:cNvPr id="6" name="s-r-valor"/>
          <p:cNvSpPr txBox="1"/>
          <p:nvPr/>
        </p:nvSpPr>
        <p:spPr>
          <a:xfrm>
            <a:off x="457200" y="2514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3</a:t>
            </a:r>
            <a:endParaRPr lang="en-US" sz="4000" dirty="0"/>
          </a:p>
        </p:txBody>
      </p:sp>
      <p:sp>
        <p:nvSpPr>
          <p:cNvPr id="7" name="s-r-rotulo"/>
          <p:cNvSpPr txBox="1"/>
          <p:nvPr/>
        </p:nvSpPr>
        <p:spPr>
          <a:xfrm>
            <a:off x="45720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custo(FN) ÷ custo(FP), premissa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Corte teórico 1/(1+R)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Corte ótimo (notebook)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0,17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0,09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Quanto mais caro o falso negativo, mais baixo o corte; para R ≥ 3 o ótimo satura em 0,05 e o modelo marca quase tudo como ajustável. Premissa R = 3: o falso negativo mantém a produção defeituosa até alguém perceber; o falso positivo é um ajuste pontual e reversível.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507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Fonte: NOTEBOOK seção 10 (validação cruzada no treino; nunca o teste, nunca o 0,5 padrão).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2 · Melhor que a regra atual?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Modelo (teste)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FN / 100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FP / 100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Erros / 100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Custo / 100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Piso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49,6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49,6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49,6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Regra simples (1 corte)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34,2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35,5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103,9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Árvore podada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1,8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25,2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27,0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30,6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ard-resposta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2"/>
          <p:cNvSpPr txBox="1"/>
          <p:nvPr/>
        </p:nvSpPr>
        <p:spPr>
          <a:xfrm>
            <a:off x="640080" y="3520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Resposta: </a:t>
            </a:r>
            <a:r>
              <a:rPr lang="en-US" sz="1400" dirty="0">
                <a:solidFill>
                  <a:schemeClr val="tx1"/>
                </a:solidFill>
              </a:rPr>
              <a:t>o custo cai de 103,9 (regra de 1 corte) para 30,6 por 100 placas (−71%) e de 49,6 (piso) para 30,6 (−38%). A regra erra pouco por alarme falso, mas deixa passar 34 defeitos ajustáveis por 100; o modelo, 2.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507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Custo / 100 = (R·FN + FP) ÷ N × 100. A regra de 1 corte é proxy da prática atual (premissa). NOTEBOOK seção 12.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 interface do modelo</a:t>
            </a:r>
            <a:endParaRPr lang="en-US" sz="3400" dirty="0"/>
          </a:p>
        </p:txBody>
      </p:sp>
      <p:sp>
        <p:nvSpPr>
          <p:cNvPr id="4" name="area-print"/>
          <p:cNvSpPr/>
          <p:nvPr/>
        </p:nvSpPr>
        <p:spPr>
          <a:xfrm>
            <a:off x="457200" y="1234440"/>
            <a:ext cx="51206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5"/>
                </a:solidFill>
              </a:rPr>
              <a:t>[PREENCHER: colar print de interface.html]</a:t>
            </a:r>
            <a:endParaRPr lang="en-US" sz="1600" dirty="0"/>
          </a:p>
        </p:txBody>
      </p:sp>
      <p:sp>
        <p:nvSpPr>
          <p:cNvPr id="6" name="item-0"/>
          <p:cNvSpPr/>
          <p:nvPr/>
        </p:nvSpPr>
        <p:spPr>
          <a:xfrm>
            <a:off x="5806440" y="1234440"/>
            <a:ext cx="2880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5943600" y="12801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Controle deslizante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mova o corte e veja ajustes perdidos (FN) e desnecessários (FP) mudarem em tempo real.</a:t>
            </a:r>
            <a:endParaRPr lang="en-US" sz="1400" dirty="0"/>
          </a:p>
        </p:txBody>
      </p:sp>
      <p:sp>
        <p:nvSpPr>
          <p:cNvPr id="8" name="item-1"/>
          <p:cNvSpPr/>
          <p:nvPr/>
        </p:nvSpPr>
        <p:spPr>
          <a:xfrm>
            <a:off x="5806440" y="2286000"/>
            <a:ext cx="2880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5943600" y="23317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Faixa de revisão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probabilidades em torno do corte vão para um humano, e a interface mostra quantos.</a:t>
            </a:r>
            <a:endParaRPr lang="en-US" sz="1400" dirty="0"/>
          </a:p>
        </p:txBody>
      </p:sp>
      <p:sp>
        <p:nvSpPr>
          <p:cNvPr id="10" name="item-2"/>
          <p:cNvSpPr/>
          <p:nvPr/>
        </p:nvSpPr>
        <p:spPr>
          <a:xfrm>
            <a:off x="5806440" y="3337560"/>
            <a:ext cx="2880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5943600" y="33832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Tabela de casos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filtre por defeito original e veja onde o modelo erra, em especial no Other_Faults.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507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Arquivo único, abre com duplo clique, sem servidor e sem internet (dados embutidos pelo notebook, seção 17).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A0BDBC8-EAA5-7BEB-2BCE-9B401339D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1"/>
            <a:ext cx="51206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4 · Quanto trabalho humano?</a:t>
            </a:r>
            <a:endParaRPr lang="en-US" sz="3400" dirty="0"/>
          </a:p>
        </p:txBody>
      </p:sp>
      <p:sp>
        <p:nvSpPr>
          <p:cNvPr id="4" name="s-rev-valor"/>
          <p:cNvSpPr txBox="1"/>
          <p:nvPr/>
        </p:nvSpPr>
        <p:spPr>
          <a:xfrm>
            <a:off x="457200" y="1234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33,7</a:t>
            </a:r>
            <a:endParaRPr lang="en-US" sz="4000" dirty="0"/>
          </a:p>
        </p:txBody>
      </p:sp>
      <p:sp>
        <p:nvSpPr>
          <p:cNvPr id="5" name="s-rev-rotulo"/>
          <p:cNvSpPr txBox="1"/>
          <p:nvPr/>
        </p:nvSpPr>
        <p:spPr>
          <a:xfrm>
            <a:off x="45720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casos a cada 100 vão para revisão humana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Corte 0,05 ± 0,10 · 131 de 389 placas do teste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280160"/>
          <a:ext cx="502920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Largura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Revisão / 100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FN automático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Custo / 100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29,0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22,6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0,10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33,7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18,8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0,15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34,7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18,0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39,6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15,4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corte 0,05 a faixa passa de zero: nenhum caso é "não ajustar" automático. O automático é só "ajustar" (66,3 por 100, 18,8 deles sem necessidade); o resto é triagem humana.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507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Fonte: NOTEBOOK seção 13. Custo supõe revisão humana correta (premissa).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Modo de falha provocado</a:t>
            </a:r>
            <a:endParaRPr lang="en-US" sz="3400" dirty="0"/>
          </a:p>
        </p:txBody>
      </p:sp>
      <p:sp>
        <p:nvSpPr>
          <p:cNvPr id="4" name="card-falha"/>
          <p:cNvSpPr/>
          <p:nvPr/>
        </p:nvSpPr>
        <p:spPr>
          <a:xfrm>
            <a:off x="457200" y="1234440"/>
            <a:ext cx="40233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640080" y="13716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Falha silenciosa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Sem validação, uma área de −999999 recebeu a mesma resposta de um caso normal: sem erro, sem aviso.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Mesma probabilidade (0,2778) de um caso normal, também para NaN.</a:t>
            </a:r>
            <a:endParaRPr lang="en-US" sz="1800" dirty="0"/>
          </a:p>
        </p:txBody>
      </p:sp>
      <p:sp>
        <p:nvSpPr>
          <p:cNvPr id="6" name="card-mitigacao"/>
          <p:cNvSpPr/>
          <p:nvPr/>
        </p:nvSpPr>
        <p:spPr>
          <a:xfrm>
            <a:off x="4663440" y="1234440"/>
            <a:ext cx="4023360" cy="3108960"/>
          </a:xfrm>
          <a:prstGeom prst="roundRect">
            <a:avLst>
              <a:gd name="adj" fmla="val 2353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4846320" y="13716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Mitigação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Entrada inválida vira ValueError com mensagem clara.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Valor fora da faixa vista no treino vai para revisão humana.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raise ValueError, e não assert (assert pode ser desligado).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07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Fonte: NOTEBOOK seção 16 · demo.py (função prever) · evidencias/modo_de_falha.md.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5 · Quando não usar?</a:t>
            </a:r>
            <a:endParaRPr lang="en-US" sz="3400" dirty="0"/>
          </a:p>
        </p:txBody>
      </p:sp>
      <p:sp>
        <p:nvSpPr>
          <p:cNvPr id="4" name="card-lim"/>
          <p:cNvSpPr/>
          <p:nvPr/>
        </p:nvSpPr>
        <p:spPr>
          <a:xfrm>
            <a:off x="457200" y="1234440"/>
            <a:ext cx="40233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640080" y="13716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Limitações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 alvo é premissa de domínio, não causa física comprovada.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Other_Faults (35% da base) é classe residual e vai para a classe 0.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Dirtiness e Stains têm poucas placas no teste: leitura frágil.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Uma planta e um período: pode não generalizar.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 0,05 o modelo nunca decide "não ajustar" sozinho.</a:t>
            </a:r>
            <a:endParaRPr lang="en-US" sz="1400" dirty="0"/>
          </a:p>
        </p:txBody>
      </p:sp>
      <p:sp>
        <p:nvSpPr>
          <p:cNvPr id="6" name="card-off"/>
          <p:cNvSpPr/>
          <p:nvPr/>
        </p:nvSpPr>
        <p:spPr>
          <a:xfrm>
            <a:off x="4663440" y="1234440"/>
            <a:ext cx="4023360" cy="310896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4846320" y="13716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Desligar quando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recall em amostra rotulada recente &lt; 0,86 (teste: 0,964 − 0,10)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mais de 5% das entradas fora da faixa de treino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mudança de tipo de aço, linha ou fornecedor sem retreino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revisão humana acima da capacidade da equipe (hoje: 33,7 por 100)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Dono do desligamento: engenheiro de processo (papel B)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07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Limiares são premissas do autor, a validar com a operação (notebook, seções 9 e 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As cinco respostas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Pergunta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Resposta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 · Onde está o problema?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983 ajustáveis × 958 não; o custo está no falso negativo (R = 3).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 · Melhor que a regra?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 por 100: 30,6 contra 103,9 (−71%); FN por 100: 1,8 contra 34,2.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 · Qual corte?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0,05 com R = 3 (saturado para R ≥ 3; R = 2 daria 0,35).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 · Trabalho humano?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33,7 casos por 100 em revisão (corte 0,05 ± 0,10).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 · Quando não usar?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Alvo é premissa; desligar por queda de recall ou entrada fora da faixa.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507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Todo número aqui existe no NOTEBOOK executado.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o e Laminacao">
  <a:themeElements>
    <a:clrScheme name="Aco e Laminacao">
      <a:dk1>
        <a:srgbClr val="1B2433"/>
      </a:dk1>
      <a:lt1>
        <a:srgbClr val="FFFFFF"/>
      </a:lt1>
      <a:dk2>
        <a:srgbClr val="2E3B50"/>
      </a:dk2>
      <a:lt2>
        <a:srgbClr val="EEF1F6"/>
      </a:lt2>
      <a:accent1>
        <a:srgbClr val="D9591F"/>
      </a:accent1>
      <a:accent2>
        <a:srgbClr val="2F6F8F"/>
      </a:accent2>
      <a:accent3>
        <a:srgbClr val="5B6678"/>
      </a:accent3>
      <a:accent4>
        <a:srgbClr val="1E7A46"/>
      </a:accent4>
      <a:accent5>
        <a:srgbClr val="B3261E"/>
      </a:accent5>
      <a:accent6>
        <a:srgbClr val="9A6100"/>
      </a:accent6>
      <a:hlink>
        <a:srgbClr val="2F6F8F"/>
      </a:hlink>
      <a:folHlink>
        <a:srgbClr val="5B6678"/>
      </a:folHlink>
    </a:clrScheme>
    <a:fontScheme name="Aco e Laminaca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1765</Words>
  <Application>Microsoft Office PowerPoint</Application>
  <PresentationFormat>Apresentação na tela (16:9)</PresentationFormat>
  <Paragraphs>241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Aco e Laminacao</vt:lpstr>
      <vt:lpstr>Quando ajustar a laminação?</vt:lpstr>
      <vt:lpstr>A base disponível</vt:lpstr>
      <vt:lpstr>1 · Onde está o problema?</vt:lpstr>
      <vt:lpstr>Comparação dos modelos</vt:lpstr>
      <vt:lpstr>Avaliação do modelo</vt:lpstr>
      <vt:lpstr>3 · Qual ponto de corte?</vt:lpstr>
      <vt:lpstr>2 · Melhor que a regra atual?</vt:lpstr>
      <vt:lpstr>A interface do modelo</vt:lpstr>
      <vt:lpstr>4 · Quanto trabalho humano?</vt:lpstr>
      <vt:lpstr>Modo de falha provocado</vt:lpstr>
      <vt:lpstr>5 · Quando não usar?</vt:lpstr>
      <vt:lpstr>As cinco respostas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Final de IA - Steel Plates Faults</dc:title>
  <dc:subject>PptxGenJS Presentation</dc:subject>
  <dc:creator>PptxGenJS</dc:creator>
  <cp:lastModifiedBy>Renan Dias de Oliveira</cp:lastModifiedBy>
  <cp:revision>2</cp:revision>
  <dcterms:created xsi:type="dcterms:W3CDTF">2026-10-12T02:38:07Z</dcterms:created>
  <dcterms:modified xsi:type="dcterms:W3CDTF">2026-10-12T02:44:56Z</dcterms:modified>
</cp:coreProperties>
</file>